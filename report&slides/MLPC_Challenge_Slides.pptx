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59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MLPC 2026 Task 5: Challenge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Unified Decoders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Escudier Agostinho  |  Jakob Hinterholzer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</a:rPr>
              <a:t>Segment-level SED: a per-class detector chain over 1-second windows</a:t>
            </a:r>
          </a:p>
        </p:txBody>
      </p:sp>
      <p:sp>
        <p:nvSpPr>
          <p:cNvPr id="10" name="Stage1"/>
          <p:cNvSpPr/>
          <p:nvPr/>
        </p:nvSpPr>
        <p:spPr>
          <a:xfrm>
            <a:off x="548640" y="1430000"/>
            <a:ext cx="1480000" cy="1340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Features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/>
              </a:rPr>
              <a:t>960 features per 1-s window (0.5 s hop)</a:t>
            </a:r>
          </a:p>
        </p:txBody>
      </p:sp>
      <p:sp>
        <p:nvSpPr>
          <p:cNvPr id="11" name="Arr1"/>
          <p:cNvSpPr/>
          <p:nvPr/>
        </p:nvSpPr>
        <p:spPr>
          <a:xfrm>
            <a:off x="2049480" y="2010000"/>
            <a:ext cx="120000" cy="1800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Stage2"/>
          <p:cNvSpPr/>
          <p:nvPr/>
        </p:nvSpPr>
        <p:spPr>
          <a:xfrm>
            <a:off x="2190320" y="1430000"/>
            <a:ext cx="1480000" cy="134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Temporal context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/>
              </a:rPr>
              <a:t>concatenate ±2 neighbour segments</a:t>
            </a:r>
          </a:p>
        </p:txBody>
      </p:sp>
      <p:sp>
        <p:nvSpPr>
          <p:cNvPr id="13" name="Arr2"/>
          <p:cNvSpPr/>
          <p:nvPr/>
        </p:nvSpPr>
        <p:spPr>
          <a:xfrm>
            <a:off x="3691160" y="2010000"/>
            <a:ext cx="120000" cy="1800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4" name="Stage3"/>
          <p:cNvSpPr/>
          <p:nvPr/>
        </p:nvSpPr>
        <p:spPr>
          <a:xfrm>
            <a:off x="3832000" y="1430000"/>
            <a:ext cx="1480000" cy="1340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CatBoost × 15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/>
              </a:rPr>
              <a:t>one-vs-rest gradient-boosted trees</a:t>
            </a:r>
          </a:p>
        </p:txBody>
      </p:sp>
      <p:sp>
        <p:nvSpPr>
          <p:cNvPr id="15" name="Arr3"/>
          <p:cNvSpPr/>
          <p:nvPr/>
        </p:nvSpPr>
        <p:spPr>
          <a:xfrm>
            <a:off x="5332840" y="2010000"/>
            <a:ext cx="120000" cy="1800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Stage4"/>
          <p:cNvSpPr/>
          <p:nvPr/>
        </p:nvSpPr>
        <p:spPr>
          <a:xfrm>
            <a:off x="5473680" y="1430000"/>
            <a:ext cx="1480000" cy="1340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Thresholds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/>
              </a:rPr>
              <a:t>per-class tuning on the validation set</a:t>
            </a:r>
          </a:p>
        </p:txBody>
      </p:sp>
      <p:sp>
        <p:nvSpPr>
          <p:cNvPr id="17" name="Arr4"/>
          <p:cNvSpPr/>
          <p:nvPr/>
        </p:nvSpPr>
        <p:spPr>
          <a:xfrm>
            <a:off x="6974520" y="2010000"/>
            <a:ext cx="120000" cy="18000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8" name="Stage5"/>
          <p:cNvSpPr/>
          <p:nvPr/>
        </p:nvSpPr>
        <p:spPr>
          <a:xfrm>
            <a:off x="7115360" y="1430000"/>
            <a:ext cx="1480000" cy="1340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/>
              </a:rPr>
              <a:t>Post-process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/>
              </a:rPr>
              <a:t>median filter (w=3) → onset/offset intervals</a:t>
            </a:r>
          </a:p>
        </p:txBody>
      </p:sp>
      <p:sp>
        <p:nvSpPr>
          <p:cNvPr id="20" name="NoteA"/>
          <p:cNvSpPr/>
          <p:nvPr/>
        </p:nvSpPr>
        <p:spPr>
          <a:xfrm>
            <a:off x="548640" y="3060000"/>
            <a:ext cx="2575573" cy="143000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37160" tIns="137160" rIns="137160" bIns="1371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/>
              </a:rPr>
              <a:t>One-vs-rest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15 independent binary detectors — a natural fit for the polyphonic, multi-label setting.</a:t>
            </a:r>
          </a:p>
        </p:txBody>
      </p:sp>
      <p:sp>
        <p:nvSpPr>
          <p:cNvPr id="21" name="NoteB"/>
          <p:cNvSpPr/>
          <p:nvPr/>
        </p:nvSpPr>
        <p:spPr>
          <a:xfrm>
            <a:off x="3284213" y="3060000"/>
            <a:ext cx="2575573" cy="143000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37160" tIns="137160" rIns="137160" bIns="1371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/>
              </a:rPr>
              <a:t>Temporal context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The decisive SED enhancement: neighbour evidence localises and disambiguates events.</a:t>
            </a:r>
          </a:p>
        </p:txBody>
      </p:sp>
      <p:sp>
        <p:nvSpPr>
          <p:cNvPr id="22" name="NoteC"/>
          <p:cNvSpPr/>
          <p:nvPr/>
        </p:nvSpPr>
        <p:spPr>
          <a:xfrm>
            <a:off x="6019786" y="3060000"/>
            <a:ext cx="2575573" cy="143000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 wrap="square" lIns="137160" tIns="137160" rIns="137160" bIns="13716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/>
              </a:rPr>
              <a:t>Balanced &amp; tuned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/>
              </a:rPr>
              <a:t>Balanced class weights and per-class thresholds counter the strong class imbalance.</a:t>
            </a:r>
          </a:p>
        </p:txBody>
      </p:sp>
      <p:sp>
        <p:nvSpPr>
          <p:cNvPr id="23" name="Footer"/>
          <p:cNvSpPr/>
          <p:nvPr/>
        </p:nvSpPr>
        <p:spPr>
          <a:xfrm>
            <a:off x="548640" y="464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/>
              </a:rPr>
              <a:t>Final config: 15 one-vs-rest CatBoost · 1500 iterations · depth 6 · learning_rate 0.05 · balanced weights · ±2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Baseline to CatBoost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743200" cy="201168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0.584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(non-hidden test)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+0.267 vs 0.317 baseline</a:t>
            </a:r>
            <a:endParaRPr lang="en-US" sz="1100" dirty="0"/>
          </a:p>
        </p:txBody>
      </p:sp>
      <p:pic>
        <p:nvPicPr>
          <p:cNvPr id="7" name="Baselin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000" y="1097280"/>
            <a:ext cx="5165360" cy="2550000"/>
          </a:xfrm>
          <a:prstGeom prst="rect">
            <a:avLst/>
          </a:prstGeom>
        </p:spPr>
      </p:pic>
      <p:sp>
        <p:nvSpPr>
          <p:cNvPr id="8" name="Caption"/>
          <p:cNvSpPr/>
          <p:nvPr/>
        </p:nvSpPr>
        <p:spPr>
          <a:xfrm>
            <a:off x="548640" y="3850000"/>
            <a:ext cx="804672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changed.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single decision trees → 15 one-vs-rest CatBoost ensembles, plus ±2 temporal context.</a:t>
            </a:r>
            <a:endParaRPr lang="en-US" sz="13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 land on the hardest baseline classes — keyboard_typing +0.46, cutlery_dishes +0.40, footsteps +0.32. Precision and recall are now balanced (0.59 / 0.59); only light_switch regresses.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600"/>
            <a:ext cx="8046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/>
                <a:ea typeface="Georgia"/>
                <a:cs typeface="Georgia"/>
              </a:rPr>
              <a:t>Hypotheses &amp; Outcomes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80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/>
              </a:rPr>
              <a:t>Three questions tested on the validation and non-hidden test split</a:t>
            </a:r>
          </a:p>
        </p:txBody>
      </p:sp>
      <p:sp>
        <p:nvSpPr>
          <p:cNvPr id="10" name="H1card"/>
          <p:cNvSpPr/>
          <p:nvPr/>
        </p:nvSpPr>
        <p:spPr>
          <a:xfrm>
            <a:off x="548640" y="1180000"/>
            <a:ext cx="8046720" cy="115000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H1badge"/>
          <p:cNvSpPr/>
          <p:nvPr/>
        </p:nvSpPr>
        <p:spPr>
          <a:xfrm>
            <a:off x="731520" y="1475000"/>
            <a:ext cx="1500000" cy="5600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CONFIRMED</a:t>
            </a:r>
          </a:p>
        </p:txBody>
      </p:sp>
      <p:sp>
        <p:nvSpPr>
          <p:cNvPr id="12" name="H1text"/>
          <p:cNvSpPr/>
          <p:nvPr/>
        </p:nvSpPr>
        <p:spPr>
          <a:xfrm>
            <a:off x="2423160" y="1320000"/>
            <a:ext cx="59892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±2 temporal context improves detection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/>
              </a:rPr>
              <a:t>Augmenting each segment with its neighbours raised macro-F1 from 0.535 to 0.584 — the single decisive challenge-specific change.</a:t>
            </a:r>
          </a:p>
        </p:txBody>
      </p:sp>
      <p:sp>
        <p:nvSpPr>
          <p:cNvPr id="20" name="H2card"/>
          <p:cNvSpPr/>
          <p:nvPr/>
        </p:nvSpPr>
        <p:spPr>
          <a:xfrm>
            <a:off x="548640" y="2510000"/>
            <a:ext cx="8046720" cy="115000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1" name="H2badge"/>
          <p:cNvSpPr/>
          <p:nvPr/>
        </p:nvSpPr>
        <p:spPr>
          <a:xfrm>
            <a:off x="731520" y="2805000"/>
            <a:ext cx="1500000" cy="5600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ROBUST</a:t>
            </a:r>
          </a:p>
        </p:txBody>
      </p:sp>
      <p:sp>
        <p:nvSpPr>
          <p:cNvPr id="22" name="H2text"/>
          <p:cNvSpPr/>
          <p:nvPr/>
        </p:nvSpPr>
        <p:spPr>
          <a:xfrm>
            <a:off x="2423160" y="2650000"/>
            <a:ext cx="59892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Tuning depth, learning rate &amp; L2 moves the needle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/>
              </a:rPr>
              <a:t>Largely flat: all sweeps stay within ≈0.006 F1. Best at depth 6, lr 0.05, l2 6; only lr 0.2 overshoots and collapses to 0.521.</a:t>
            </a:r>
          </a:p>
        </p:txBody>
      </p:sp>
      <p:sp>
        <p:nvSpPr>
          <p:cNvPr id="30" name="H3card"/>
          <p:cNvSpPr/>
          <p:nvPr/>
        </p:nvSpPr>
        <p:spPr>
          <a:xfrm>
            <a:off x="548640" y="3840000"/>
            <a:ext cx="8046720" cy="115000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31" name="H3badge"/>
          <p:cNvSpPr/>
          <p:nvPr/>
        </p:nvSpPr>
        <p:spPr>
          <a:xfrm>
            <a:off x="731520" y="4135000"/>
            <a:ext cx="1500000" cy="5600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MOSTLY NO</a:t>
            </a:r>
          </a:p>
        </p:txBody>
      </p:sp>
      <p:sp>
        <p:nvSpPr>
          <p:cNvPr id="32" name="H3text"/>
          <p:cNvSpPr/>
          <p:nvPr/>
        </p:nvSpPr>
        <p:spPr>
          <a:xfrm>
            <a:off x="2423160" y="3980000"/>
            <a:ext cx="5989200" cy="8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/>
              </a:rPr>
              <a:t>Temporal median filtering cleans up flicker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/>
              </a:rPr>
              <a:t>Only w=3 helps marginally (+0.0006); wider windows erase short events (w=9: −0.041). Context features already make predictions coherent.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Wins and Loses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4630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sounds — easy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water (0.79), vacuum cleaner (0.77) and phone ringing (0.63) fill the 1-second window with clean, distinctive spectra.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840480" cy="14630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/>
          <p:nvPr/>
        </p:nvSpPr>
        <p:spPr>
          <a:xfrm>
            <a:off x="498348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transients — hard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events sit at the bottom: window 0.37, wardrobe 0.31, light_switch 0.20 — diluted by surrounding silence inside the window.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04672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Confusions are perceptually plausible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errors cluster within sound families, not at random — bell ↔ phone (both tonal ringing), door ↔ window (near-identical open/close), and cutlery ↔ water / keychain (co-occurring kitchen clatter).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quality spans roughly 4x — from running_water (0.79) down to light_switch (0.20)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&amp; Real-World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non-critical assistive logger — not yet reliable enough for autonomous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9385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Temporal-resolution mismatch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1-second window dwarfs sub-second open/close events. A CRNN on raw log-mel frames could localise onsets instead of averaging them away.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82880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1" name="Shape 9"/>
          <p:cNvSpPr/>
          <p:nvPr/>
        </p:nvSpPr>
        <p:spPr>
          <a:xfrm>
            <a:off x="4937760" y="19659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9385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per-class detectors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one-vs-rest models ignore co-occurrence. A joint multi-label or confusion-aware stage could separate same-family sounds.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by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boosted trees over cheap MFCC/mel/spectral features run comfortably on an edge hub or on-device, unlike deep alternatives.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291840"/>
            <a:ext cx="3794760" cy="1234440"/>
          </a:xfrm>
          <a:prstGeom prst="rect">
            <a:avLst/>
          </a:prstGeom>
          <a:solidFill>
            <a:srgbClr val="E8F1F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T"/>
          </a:p>
        </p:txBody>
      </p:sp>
      <p:sp>
        <p:nvSpPr>
          <p:cNvPr id="21" name="Shape 19"/>
          <p:cNvSpPr/>
          <p:nvPr/>
        </p:nvSpPr>
        <p:spPr>
          <a:xfrm>
            <a:off x="4937760" y="34290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4015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caveats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947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±2 context lags ≈2 s behind real time, per-class quality varies fourfold, and always-on audio raises privacy concerns.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64712B-1784-4550-A87A-9652C271EC06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fe7c69-5991-41ea-a36d-df862d7377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591</Words>
  <Application>Microsoft Office PowerPoint</Application>
  <PresentationFormat>On-screen Show (16:9)</PresentationFormat>
  <Paragraphs>67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MLPC Task 4: Evaluation</dc:title>
  <dc:subject>PptxGenJS Presentation</dc:subject>
  <dc:creator>Team Unified Coders</dc:creator>
  <cp:lastModifiedBy>Alexandre Agostinho</cp:lastModifiedBy>
  <cp:revision>10</cp:revision>
  <dcterms:created xsi:type="dcterms:W3CDTF">2026-05-23T12:07:32Z</dcterms:created>
  <dcterms:modified xsi:type="dcterms:W3CDTF">2026-06-19T16:46:15Z</dcterms:modified>
</cp:coreProperties>
</file>